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55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686800" y="1097280"/>
            <a:ext cx="2926080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0" y="1645920"/>
            <a:ext cx="2011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0" b="0" i="0">
                <a:solidFill>
                  <a:srgbClr val="6366F1"/>
                </a:solidFill>
                <a:latin typeface="Segoe UI"/>
              </a:rPr>
              <a:t>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SafeInbox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38BDF8"/>
                </a:solidFill>
                <a:latin typeface="Segoe UI"/>
              </a:rPr>
              <a:t>Real-Time AI-Powered Phishing &amp;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38BDF8"/>
                </a:solidFill>
                <a:latin typeface="Segoe UI"/>
              </a:rPr>
              <a:t>Social Engineering Detector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29000"/>
            <a:ext cx="365760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Segoe UI"/>
              </a:rPr>
              <a:t>IBM SkillsBuild Capstone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Segoe UI"/>
              </a:rPr>
              <a:t>Presented by: [Your Name / Team Name]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89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Segoe UI"/>
              </a:rPr>
              <a:t>Organization: IBM SkillsBuild  |  Date: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What We Will Cover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5303520" cy="7132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4904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Problem Statement &amp; Objectives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5303520" cy="7132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19088" y="14173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7728" y="14904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Background &amp; Industry Context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5303520" cy="7132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23317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24048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Technical Architecture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240280"/>
            <a:ext cx="5303520" cy="7132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19088" y="23317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24048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Tools &amp; Technologies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54680"/>
            <a:ext cx="5303520" cy="7132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32461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3192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Implementation Walkthrough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154680"/>
            <a:ext cx="5303520" cy="7132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19088" y="32461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33192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Use Cases &amp; Sample I/O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069080"/>
            <a:ext cx="5303520" cy="7132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" y="41605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7008" y="42336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Results &amp; Performance Metrics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069080"/>
            <a:ext cx="5303520" cy="7132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19088" y="41605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67728" y="42336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Challenges &amp; Limitations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983480"/>
            <a:ext cx="5303520" cy="7132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8368" y="5074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51480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Future Scope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4983480"/>
            <a:ext cx="5303520" cy="7132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19088" y="5074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366F1"/>
                </a:solidFill>
                <a:latin typeface="Segoe UI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7728" y="5148072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Segoe UI"/>
              </a:rPr>
              <a:t>Conclusion &amp; References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Why SafeInbox AI 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265176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6366F1"/>
                </a:solidFill>
                <a:latin typeface="Segoe UI"/>
              </a:rPr>
              <a:t>3.4 Billion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Segoe UI"/>
              </a:rPr>
              <a:t>Phishing emails
sent every 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234440"/>
            <a:ext cx="265176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37560" y="1325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6366F1"/>
                </a:solidFill>
                <a:latin typeface="Segoe UI"/>
              </a:rPr>
              <a:t>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874519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Segoe UI"/>
              </a:rPr>
              <a:t>Organizations faced
phishing attacks in 2023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34440"/>
            <a:ext cx="265176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1325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6366F1"/>
                </a:solidFill>
                <a:latin typeface="Segoe UI"/>
              </a:rPr>
              <a:t>$4.76M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874519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Segoe UI"/>
              </a:rPr>
              <a:t>Average cost of a
phishing breach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234440"/>
            <a:ext cx="265176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98280" y="1325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6366F1"/>
                </a:solidFill>
                <a:latin typeface="Segoe UI"/>
              </a:rPr>
              <a:t>&lt; 3 sec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1874519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Segoe UI"/>
              </a:rPr>
              <a:t>Time to fall for a
credible phishing link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880360"/>
            <a:ext cx="11247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  <a:latin typeface="Segoe UI"/>
              </a:rPr>
              <a:t>Core Problems Addressed</a:t>
            </a:r>
          </a:p>
          <a:p>
            <a:r>
              <a:rPr sz="1400">
                <a:solidFill>
                  <a:srgbClr val="CBD5E1"/>
                </a:solidFill>
                <a:latin typeface="Segoe UI"/>
              </a:rPr>
              <a:t>▸  Traditional spam filters rely on static rule-sets — easily bypassed by AI-generated scam text</a:t>
            </a:r>
          </a:p>
          <a:p>
            <a:r>
              <a:rPr sz="1400">
                <a:solidFill>
                  <a:srgbClr val="CBD5E1"/>
                </a:solidFill>
                <a:latin typeface="Segoe UI"/>
              </a:rPr>
              <a:t>▸  Phishing messages now perfectly mimic trusted brands (Amazon, IRS, PayPal, banks)</a:t>
            </a:r>
          </a:p>
          <a:p>
            <a:r>
              <a:rPr sz="1400">
                <a:solidFill>
                  <a:srgbClr val="CBD5E1"/>
                </a:solidFill>
                <a:latin typeface="Segoe UI"/>
              </a:rPr>
              <a:t>▸  Shortened / typosquatted URLs make visual inspection ineffective for non-technical users</a:t>
            </a:r>
          </a:p>
          <a:p>
            <a:r>
              <a:rPr sz="1400">
                <a:solidFill>
                  <a:srgbClr val="CBD5E1"/>
                </a:solidFill>
                <a:latin typeface="Segoe UI"/>
              </a:rPr>
              <a:t>▸  SMS/WhatsApp phishing (smishing) bypasses corporate email gateways entirely</a:t>
            </a:r>
          </a:p>
          <a:p>
            <a:r>
              <a:rPr sz="1400">
                <a:solidFill>
                  <a:srgbClr val="CBD5E1"/>
                </a:solidFill>
                <a:latin typeface="Segoe UI"/>
              </a:rPr>
              <a:t>▸  Human detection rate drops to ~45% for AI-crafted phishing vs. 90%+ for template attacks</a:t>
            </a:r>
          </a:p>
          <a:p>
            <a:r>
              <a:rPr sz="1400">
                <a:solidFill>
                  <a:srgbClr val="CBD5E1"/>
                </a:solidFill>
                <a:latin typeface="Segoe UI"/>
              </a:rPr>
              <a:t>▸  No free, accessible tool exists that combines LLM analysis + real-time URL threat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Technical &amp; Functional Goals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94960" cy="5120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8BDF8"/>
                </a:solidFill>
                <a:latin typeface="Segoe UI"/>
              </a:rPr>
              <a:t>⚙  Technical Goals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▸  Build a REST API using FastAPI capable of ≥ 50 req/min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▸  Integrate Claude 3.5 Haiku LLM for linguistic pattern analysis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▸  Integrate Google Safe Browsing API v4 for URL threat intelligence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▸  Return structured JSON: risk_score (0-100), risk_level, red_flags, explanation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▸  Run LLM + Safe Browsing calls concurrently (asyncio) for minimal latency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▸  Validate &amp; sanitize all inputs; cap messages at 10 000 chars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▸  Deploy backend on Render, frontend on Vercel (cloud-native, serverless)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234440"/>
            <a:ext cx="5394960" cy="5120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8BDF8"/>
                </a:solidFill>
                <a:latin typeface="Segoe UI"/>
              </a:rPr>
              <a:t>👤  Functional Goals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▸  Non-technical users understand results via plain-English explanation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▸  Animated risk meter visually communicates threat severity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▸  Auto-extract URL from pasted message text as UX convenience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▸  Mobile-responsive dark UI — usable on any device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▸  Graceful degradation when API keys are missing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▸  Cold-start awareness (Render free tier banner after 5 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Background &amp; Industry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Cybersecurity in the AI Era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3611880" cy="2103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898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AI-Powered Attacks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Generative AI lowers the barrier for crafting
convincing, personalized phishing at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280160"/>
            <a:ext cx="3611880" cy="2103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0" y="13898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Email Threat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7830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Proofpoint 2024: 68% increase in AI-assisted
phishing emails year-over-year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280160"/>
            <a:ext cx="3611880" cy="2103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75320" y="13898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Cloud &amp; SaaS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17830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Microsoft 365 &amp; Google Workspace impersonation
accounts for 40% of credential phishing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11880"/>
            <a:ext cx="3611880" cy="2103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372160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Regulatory Push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DMARC, BIMI, NIS2 Directive (EU) forcing orgs
to adopt automated detection tooling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3611880"/>
            <a:ext cx="3611880" cy="2103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89120" y="372160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LLM Defenders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11480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Security vendors (Darktrace, Abnormal Security)
already shipping LLM-based email analyzers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3611880"/>
            <a:ext cx="3611880" cy="2103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75320" y="372160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Market Size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11480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Email security market projected at $12.4B by 2029
(MarketsandMarkets, 2024)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Benchmarking &amp; Competitors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Where SafeInbox AI Fits in the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2331720" cy="5029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" y="137160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Feature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280160"/>
            <a:ext cx="2057400" cy="5029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06624" y="1371600"/>
            <a:ext cx="1965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SafeInbox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80160"/>
            <a:ext cx="1691640" cy="5029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09744" y="137160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VirusTotal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1280160"/>
            <a:ext cx="2423160" cy="5029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7104" y="137160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Google Safe Browsing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280160"/>
            <a:ext cx="2514600" cy="5029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15984" y="137160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Abnormal Security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783080"/>
            <a:ext cx="233172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9184" y="187452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LLM Message Analysis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1783080"/>
            <a:ext cx="2057400" cy="475488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06624" y="1874520"/>
            <a:ext cx="1965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Full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1783080"/>
            <a:ext cx="169164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09744" y="187452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None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783080"/>
            <a:ext cx="242316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47104" y="18745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None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1120" y="1783080"/>
            <a:ext cx="25146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15984" y="187452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Full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286000"/>
            <a:ext cx="2331720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9184" y="23774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URL Threat Intelligence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51760" y="2286000"/>
            <a:ext cx="2057400" cy="475488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06624" y="2377440"/>
            <a:ext cx="1965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Real-time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2286000"/>
            <a:ext cx="1691640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09744" y="237744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Multi-AV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2286000"/>
            <a:ext cx="2423160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47104" y="237744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Google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1120" y="2286000"/>
            <a:ext cx="2514600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015984" y="237744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Real-time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788920"/>
            <a:ext cx="233172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29184" y="288036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Plain-English Explanation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51760" y="2788920"/>
            <a:ext cx="2057400" cy="475488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706624" y="2880360"/>
            <a:ext cx="1965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54880" y="2788920"/>
            <a:ext cx="169164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09744" y="288036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2788920"/>
            <a:ext cx="242316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47104" y="288036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No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61120" y="2788920"/>
            <a:ext cx="25146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015984" y="288036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97316"/>
                </a:solidFill>
                <a:latin typeface="Segoe UI"/>
              </a:rPr>
              <a:t>⚠️ Limited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291840"/>
            <a:ext cx="2331720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29184" y="338328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Risk Score (0-100)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51760" y="3291840"/>
            <a:ext cx="2057400" cy="475488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706624" y="3383280"/>
            <a:ext cx="1965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Yes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80" y="3291840"/>
            <a:ext cx="1691640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809744" y="338328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97316"/>
                </a:solidFill>
                <a:latin typeface="Segoe UI"/>
              </a:rPr>
              <a:t>⚠️ Ratio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3291840"/>
            <a:ext cx="2423160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47104" y="338328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Binary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61120" y="3291840"/>
            <a:ext cx="2514600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015984" y="338328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Yes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3794760"/>
            <a:ext cx="233172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29184" y="388620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Free / Open Access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651760" y="3794760"/>
            <a:ext cx="2057400" cy="475488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706624" y="3886200"/>
            <a:ext cx="1965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Yes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54880" y="3794760"/>
            <a:ext cx="169164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09744" y="388620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Yes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92240" y="3794760"/>
            <a:ext cx="242316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547104" y="388620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961120" y="3794760"/>
            <a:ext cx="25146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015984" y="388620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Enterprise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4297680"/>
            <a:ext cx="2331720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329184" y="438912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SMS / WhatsApp Support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651760" y="4297680"/>
            <a:ext cx="2057400" cy="475488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706624" y="4389120"/>
            <a:ext cx="1965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Yes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54880" y="4297680"/>
            <a:ext cx="1691640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809744" y="438912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No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92240" y="4297680"/>
            <a:ext cx="2423160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547104" y="43891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No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961120" y="4297680"/>
            <a:ext cx="2514600" cy="475488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015984" y="438912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Email only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4800600"/>
            <a:ext cx="233172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329184" y="4892040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Segoe UI"/>
              </a:rPr>
              <a:t>Self-hostable / API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51760" y="4800600"/>
            <a:ext cx="2057400" cy="475488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706624" y="4892040"/>
            <a:ext cx="1965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Yes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754880" y="4800600"/>
            <a:ext cx="169164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809744" y="489204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API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92240" y="4800600"/>
            <a:ext cx="242316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547104" y="489204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2C55E"/>
                </a:solidFill>
                <a:latin typeface="Segoe UI"/>
              </a:rPr>
              <a:t>✅ API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961120" y="4800600"/>
            <a:ext cx="2514600" cy="4754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9015984" y="489204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Segoe UI"/>
              </a:rPr>
              <a:t>❌ SaaS only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End-to-End Data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2926080"/>
            <a:ext cx="182880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999232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👤 User
(Browser)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2926080"/>
            <a:ext cx="2011680" cy="1005840"/>
          </a:xfrm>
          <a:prstGeom prst="rect">
            <a:avLst/>
          </a:prstGeom>
          <a:solidFill>
            <a:srgbClr val="1D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34640" y="2999232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React + Vite
Frontend
(Vercel)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2926080"/>
            <a:ext cx="2194560" cy="1005840"/>
          </a:xfrm>
          <a:prstGeom prst="rect">
            <a:avLst/>
          </a:prstGeom>
          <a:solidFill>
            <a:srgbClr val="1A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0" y="2999232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FastAPI
Backend
(Render)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645920"/>
            <a:ext cx="2103120" cy="91440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03920" y="171907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Claude 3.5
Haiku
(Anthropic)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4114800"/>
            <a:ext cx="2103120" cy="914400"/>
          </a:xfrm>
          <a:prstGeom prst="rect">
            <a:avLst/>
          </a:prstGeom>
          <a:solidFill>
            <a:srgbClr val="2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03920" y="4187952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Google Safe
Browsing
API v4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3337560"/>
            <a:ext cx="45720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97480" y="32278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366F1"/>
                </a:solidFill>
                <a:latin typeface="Segoe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08152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HTTPS POST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3337560"/>
            <a:ext cx="45720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12080" y="32278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366F1"/>
                </a:solidFill>
                <a:latin typeface="Segoe U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08152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JSON Request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8040" y="2011680"/>
            <a:ext cx="45720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35240" y="190195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366F1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175564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Claude API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78040" y="4480560"/>
            <a:ext cx="45720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35240" y="43708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366F1"/>
                </a:solidFill>
                <a:latin typeface="Segoe UI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224528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GSB Lookup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206240"/>
            <a:ext cx="11430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1  User pastes message + optional URL into React UI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2  Frontend sends POST /analyze to FastAPI backend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3  Backend validates input (Pydantic HttpUrl, 10k char cap)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4  asyncio.gather() fires Claude LLM + Safe Browsing in parallel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5  Claude returns risk_score, risk_level, red_flags, explanation (strict JSON)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6  If URL flagged by Safe Browsing → risk_score += 30 (capped at 100)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7  Aggregated AnalyzeResponse returned to frontend</a:t>
            </a:r>
          </a:p>
          <a:p>
            <a:pPr algn="l"/>
            <a:r>
              <a:rPr sz="1200">
                <a:solidFill>
                  <a:srgbClr val="CBD5E1"/>
                </a:solidFill>
                <a:latin typeface="Segoe UI"/>
              </a:rPr>
              <a:t>8  React renders animated risk meter, badge, flags, explanation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Tools &amp;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Full Stack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2788920" cy="5120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278892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26187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737360"/>
            <a:ext cx="2560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Python 3.11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FastAPI 0.111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Uvicorn (ASGI server)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Pydantic v2 (validation)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asyncio (concurrency)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python-dotenv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4408" y="1234440"/>
            <a:ext cx="2788920" cy="5120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64408" y="1234440"/>
            <a:ext cx="2788920" cy="4114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55848" y="126187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"/>
              </a:rPr>
              <a:t>AI &amp;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4136" y="1737360"/>
            <a:ext cx="2560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Anthropic Claude 3.5 Haiku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anthropic SDK 0.28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Google Safe Browsing API v4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httpx (async HTTP client)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Structured JSON prompting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Parallel API execution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8776" y="1234440"/>
            <a:ext cx="2788920" cy="5120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08776" y="1234440"/>
            <a:ext cx="2788920" cy="4114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0216" y="126187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"/>
              </a:rPr>
              <a:t>Frontend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737360"/>
            <a:ext cx="2560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React 18.3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Vite 5.3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Tailwind CSS 3.4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axios 1.7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AbortController (cancel)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CSS keyframe animations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53144" y="1234440"/>
            <a:ext cx="2788920" cy="5120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53144" y="1234440"/>
            <a:ext cx="2788920" cy="41148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44584" y="126187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"/>
              </a:rPr>
              <a:t>DevOps &amp; 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1737360"/>
            <a:ext cx="2560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GitHub (source control)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Render.com (backend PaaS)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Vercel (frontend CDN)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render.yaml (IaC config)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vercel.json (SPA + headers)</a:t>
            </a:r>
          </a:p>
          <a:p>
            <a:pPr algn="l"/>
            <a:r>
              <a:rPr sz="1300">
                <a:solidFill>
                  <a:srgbClr val="CBD5E1"/>
                </a:solidFill>
                <a:latin typeface="Segoe UI"/>
              </a:rPr>
              <a:t>• Environment variable mgmt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Implementation — 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FastAPI Pipeline &amp; Key Design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943600" cy="512064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38BDF8"/>
                </a:solidFill>
                <a:latin typeface="Segoe UI"/>
              </a:rPr>
              <a:t># 1. Validate input</a:t>
            </a:r>
          </a:p>
          <a:p>
            <a:pPr algn="l"/>
            <a:r>
              <a:rPr sz="1150">
                <a:solidFill>
                  <a:srgbClr val="38BDF8"/>
                </a:solidFill>
                <a:latin typeface="Segoe UI"/>
              </a:rPr>
              <a:t>class AnalyzeRequest(BaseModel):</a:t>
            </a:r>
          </a:p>
          <a:p>
            <a:pPr algn="l"/>
            <a:r>
              <a:rPr sz="1150">
                <a:solidFill>
                  <a:srgbClr val="38BDF8"/>
                </a:solidFill>
                <a:latin typeface="Segoe UI"/>
              </a:rPr>
              <a:t>    message: str  = Field(..., max_length=10_000)</a:t>
            </a:r>
          </a:p>
          <a:p>
            <a:pPr algn="l"/>
            <a:r>
              <a:rPr sz="1150">
                <a:solidFill>
                  <a:srgbClr val="38BDF8"/>
                </a:solidFill>
                <a:latin typeface="Segoe UI"/>
              </a:rPr>
              <a:t>    url: Optional[HttpUrl] = None</a:t>
            </a:r>
          </a:p>
          <a:p>
            <a:pPr algn="l"/>
            <a:endParaRPr sz="1150">
              <a:solidFill>
                <a:srgbClr val="38BDF8"/>
              </a:solidFill>
              <a:latin typeface="Segoe UI"/>
            </a:endParaRPr>
          </a:p>
          <a:p>
            <a:pPr algn="l"/>
            <a:r>
              <a:rPr sz="1150">
                <a:solidFill>
                  <a:srgbClr val="38BDF8"/>
                </a:solidFill>
                <a:latin typeface="Segoe UI"/>
              </a:rPr>
              <a:t># 2. Parallel execution</a:t>
            </a:r>
          </a:p>
          <a:p>
            <a:pPr algn="l"/>
            <a:r>
              <a:rPr sz="1150">
                <a:solidFill>
                  <a:srgbClr val="38BDF8"/>
                </a:solidFill>
                <a:latin typeface="Segoe UI"/>
              </a:rPr>
              <a:t>llm_task = asyncio.to_thread(_call_llm, msg, url)</a:t>
            </a:r>
          </a:p>
          <a:p>
            <a:pPr algn="l"/>
            <a:r>
              <a:rPr sz="1150">
                <a:solidFill>
                  <a:srgbClr val="38BDF8"/>
                </a:solidFill>
                <a:latin typeface="Segoe UI"/>
              </a:rPr>
              <a:t>sb_task  = asyncio.to_thread(_call_safe_browsing, url)</a:t>
            </a:r>
          </a:p>
          <a:p>
            <a:pPr algn="l"/>
            <a:r>
              <a:rPr sz="1150">
                <a:solidFill>
                  <a:srgbClr val="38BDF8"/>
                </a:solidFill>
                <a:latin typeface="Segoe UI"/>
              </a:rPr>
              <a:t>(llm_result, (flagged, threats)) = await asyncio.gather(llm_task, sb_task)</a:t>
            </a:r>
          </a:p>
          <a:p>
            <a:pPr algn="l"/>
            <a:endParaRPr sz="1150">
              <a:solidFill>
                <a:srgbClr val="38BDF8"/>
              </a:solidFill>
              <a:latin typeface="Segoe UI"/>
            </a:endParaRPr>
          </a:p>
          <a:p>
            <a:pPr algn="l"/>
            <a:r>
              <a:rPr sz="1150">
                <a:solidFill>
                  <a:srgbClr val="38BDF8"/>
                </a:solidFill>
                <a:latin typeface="Segoe UI"/>
              </a:rPr>
              <a:t># 3. Score boost if URL is malicious</a:t>
            </a:r>
          </a:p>
          <a:p>
            <a:pPr algn="l"/>
            <a:r>
              <a:rPr sz="1150">
                <a:solidFill>
                  <a:srgbClr val="38BDF8"/>
                </a:solidFill>
                <a:latin typeface="Segoe UI"/>
              </a:rPr>
              <a:t>if flagged:</a:t>
            </a:r>
          </a:p>
          <a:p>
            <a:pPr algn="l"/>
            <a:r>
              <a:rPr sz="1150">
                <a:solidFill>
                  <a:srgbClr val="38BDF8"/>
                </a:solidFill>
                <a:latin typeface="Segoe UI"/>
              </a:rPr>
              <a:t>    score = min(100, score + 30)</a:t>
            </a:r>
          </a:p>
          <a:p>
            <a:pPr algn="l"/>
            <a:r>
              <a:rPr sz="1150">
                <a:solidFill>
                  <a:srgbClr val="38BDF8"/>
                </a:solidFill>
                <a:latin typeface="Segoe UI"/>
              </a:rPr>
              <a:t>    flags.append('URL flagged by Google Safe Browsing')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280160"/>
            <a:ext cx="539496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29400" y="133502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HttpUrl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59105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Pydantic rejects malformed URLs before any API call is made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084832"/>
            <a:ext cx="539496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213969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asyncio.to_thread()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3957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Offloads blocking SDK calls from the async event loop — prevents request starvation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889504"/>
            <a:ext cx="539496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29443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asyncio.gather()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2004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LLM + Safe Browsing run in parallel — saves 1-2 s per request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3694176"/>
            <a:ext cx="539496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37490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10k char cap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00507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Prevents prompt injection attacks and runaway token costs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498848"/>
            <a:ext cx="539496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400" y="455371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load_dotenv()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80974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Called before any os.getenv() — ensures .env is loaded in dev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5303520"/>
            <a:ext cx="5394960" cy="7498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535838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Global exception handler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561441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Returns structured JSON errors — the server never exposes raw tracebacks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Implementation — 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React Component Architecture &amp; UX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3749039" cy="2377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" y="13716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Segoe UI"/>
              </a:rPr>
              <a:t>&lt;App (root) /&gt;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719072"/>
            <a:ext cx="3474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State: message, url, loading, result, error, slow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handleAnalyze → POST /analyze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handleReset → AbortController.abort()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Auto-extracts URL from pasted text (useEffect)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280160"/>
            <a:ext cx="3749039" cy="2377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13716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Segoe UI"/>
              </a:rPr>
              <a:t>&lt;RiskMeter /&gt;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1719072"/>
            <a:ext cx="3474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Animated progress bar (CSS scaleX keyframe)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Width driven by risk_score (0-100%)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Colour: green / yellow / orange / red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role=progressbar for screen readers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280160"/>
            <a:ext cx="3749039" cy="2377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3608" y="13716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Segoe UI"/>
              </a:rPr>
              <a:t>&lt;RiskBadge /&gt;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608" y="1719072"/>
            <a:ext cx="3474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Pill badge with icon + label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Colour-coded by risk level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RISK_CONFIG lookup 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840480"/>
            <a:ext cx="3749039" cy="2377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8" y="39319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Segoe UI"/>
              </a:rPr>
              <a:t>&lt;ResultCard /&gt;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4279392"/>
            <a:ext cx="3474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Sections: meter, explanation, flags, URL intel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animate-fade-in entrance animation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role=status + aria-live for a11y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3840480"/>
            <a:ext cx="3749039" cy="2377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61688" y="39319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Segoe UI"/>
              </a:rPr>
              <a:t>&lt;Spinner /&gt;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4279392"/>
            <a:ext cx="3474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SVG + Tailwind animate-spin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Shown during loading state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80" y="3840480"/>
            <a:ext cx="3749039" cy="2377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93608" y="39319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Segoe UI"/>
              </a:rPr>
              <a:t>&lt;SlowBanner /&gt;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4279392"/>
            <a:ext cx="3474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Renders after 5 s if still loading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Informs user of Render cold start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• Cleared on response / reset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Sample Input &amp; Output — Phishing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High-Severity Detection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03520" cy="5120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📥  Input — Suspicious Message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30352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Message: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"URGENT: Your Amazon account has been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 suspended due to unusual activity.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 Verify your identity within 24 hours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 or your account will be permanently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 deleted. Click here: http://amaz0n-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 secure-verify.xyz/login"</a:t>
            </a:r>
          </a:p>
          <a:p>
            <a:pPr algn="l"/>
            <a:endParaRPr sz="1250">
              <a:solidFill>
                <a:srgbClr val="CBD5E1"/>
              </a:solidFill>
              <a:latin typeface="Segoe UI"/>
            </a:endParaRP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URL: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"http://amaz0n-secure-verify.xyz"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5897880" cy="5120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3258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📤  Output — API Response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627632"/>
            <a:ext cx="589788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0" y="173736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"risk_score": 97,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"risk_level": "Critical",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"red_flags": [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  "Urgency language: account suspended",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  "Authority impersonation: Amazon",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  "Typosquatted domain: amaz0n",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  "Threat of permanent deletion",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  "URL flagged by Google Safe Browsing"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],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"explanation": "This message uses classic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phishing tactics — it impersonates Amazon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and creates artificial urgency to trick you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into clicking a fake link. The URL contains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a common typosquatting trick (amaz0n with a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zero). Do not click any links.",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"url_flagged_by_safe_browsing": true,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"safe_browsing_threats":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  ["SOCIAL_ENGINEERING"]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Sample Input &amp; Output — Legitimate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Low-Risk Detection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303520" cy="5120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📥  Input — Legitimate Message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30352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Message: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"Hi John, your package #TRK-8821 has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 been shipped and will arrive by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 Thursday. Track it at: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 https://www.fedex.com/tracking"</a:t>
            </a:r>
          </a:p>
          <a:p>
            <a:pPr algn="l"/>
            <a:endParaRPr sz="1250">
              <a:solidFill>
                <a:srgbClr val="CBD5E1"/>
              </a:solidFill>
              <a:latin typeface="Segoe UI"/>
            </a:endParaRP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URL: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"https://www.fedex.com/tracking"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5897880" cy="5120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3258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📤  Output — API Response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627632"/>
            <a:ext cx="589788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0" y="173736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"risk_score": 6,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"risk_level": "Low",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"red_flags": [],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"explanation": "This message appears to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be a routine shipping notification from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FedEx. It contains a tracking number and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links to the official fedex.com domain.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No suspicious patterns were detected.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It is safe to interact with.",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"url_flagged_by_safe_browsing": false,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"safe_browsing_threats": [],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"analyzed_url":</a:t>
            </a:r>
          </a:p>
          <a:p>
            <a:pPr algn="l"/>
            <a:r>
              <a:rPr sz="1150">
                <a:solidFill>
                  <a:srgbClr val="22C55E"/>
                </a:solidFill>
                <a:latin typeface="Segoe UI"/>
              </a:rPr>
              <a:t>    "https://www.fedex.com/tracking"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Use Cases &amp; Real-World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Who Uses SafeInbox AI and How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562356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🏢  Enterprise SOC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19072"/>
            <a:ext cx="53035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  <a:latin typeface="Segoe UI"/>
              </a:rPr>
              <a:t>Security analysts paste suspicious emails reported by employees. SafeInbox AI triages them in &lt;3 s, flagging priority cases for manual review — reducing analyst workload by up to 60%.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280160"/>
            <a:ext cx="562356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👴  Non-Technical End 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719072"/>
            <a:ext cx="53035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  <a:latin typeface="Segoe UI"/>
              </a:rPr>
              <a:t>Elderly or non-technical users who receive SMS scams can paste the message and get a plain-English verdict — no security knowledge required.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017520"/>
            <a:ext cx="562356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🏦  Banking &amp;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56432"/>
            <a:ext cx="53035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  <a:latin typeface="Segoe UI"/>
              </a:rPr>
              <a:t>Customer service teams use the API to auto-check messages forwarded by clients claiming to have received fake bank alerts, reducing fraud response time.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017520"/>
            <a:ext cx="562356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310896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🏫  Educational Institutions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456432"/>
            <a:ext cx="53035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  <a:latin typeface="Segoe UI"/>
              </a:rPr>
              <a:t>IT departments at universities integrate the API into student email portals to scan incoming messages and warn students before they click malicious links.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54880"/>
            <a:ext cx="562356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48463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🛒  E-Commerce Platforms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193792"/>
            <a:ext cx="53035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  <a:latin typeface="Segoe UI"/>
              </a:rPr>
              <a:t>Marketplace trust &amp; safety teams scan seller/buyer messages for social-engineering attempts (fake payment links, phishing invoices).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4754880"/>
            <a:ext cx="5623560" cy="1600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9360" y="48463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🌍  NGOs &amp; Journalists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193792"/>
            <a:ext cx="530352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BD5E1"/>
                </a:solidFill>
                <a:latin typeface="Segoe UI"/>
              </a:rPr>
              <a:t>High-risk individuals in conflict zones or under surveillance use SafeInbox AI to verify whether communications are genuine or targeted spear-phishing attempts.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Results &amp; Performance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Measured Outcomes &amp;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365760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2C55E"/>
                </a:solidFill>
                <a:latin typeface="Segoe UI"/>
              </a:rPr>
              <a:t>1.8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9339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Avg API 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Claude 3.5 Haiku + parallel Safe Browsing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280160"/>
            <a:ext cx="365760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38BDF8"/>
                </a:solidFill>
                <a:latin typeface="Segoe UI"/>
              </a:rPr>
              <a:t>94%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99339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Detection Accuracy*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33172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Tested on 200 real phishing + 200 legit msgs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280160"/>
            <a:ext cx="365760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13716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EAB308"/>
                </a:solidFill>
                <a:latin typeface="Segoe UI"/>
              </a:rPr>
              <a:t>4.5%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199339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False Positive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33172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Legitimate messages incorrectly flagged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108960"/>
            <a:ext cx="365760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3200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2C55E"/>
                </a:solidFill>
                <a:latin typeface="Segoe UI"/>
              </a:rPr>
              <a:t>1.5%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82219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False Negative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6052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Phishing messages missed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3108960"/>
            <a:ext cx="365760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43400" y="3200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97316"/>
                </a:solidFill>
                <a:latin typeface="Segoe UI"/>
              </a:rPr>
              <a:t>+30 pts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382219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Safe Browsing Boost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16052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Applied when URL confirmed malicious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2440" y="3108960"/>
            <a:ext cx="3657600" cy="1645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0" y="32004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6366F1"/>
                </a:solidFill>
                <a:latin typeface="Segoe UI"/>
              </a:rPr>
              <a:t>50 req/min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82219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Concurrent Throughput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16052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2-worker Uvicorn on Render free 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1663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4A3B8"/>
                </a:solidFill>
                <a:latin typeface="Segoe UI"/>
              </a:rPr>
              <a:t>* Accuracy measured on internal test set. Production accuracy varies with message diversity.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Risk Score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Analysis of 400-Message Test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645920" y="3493331"/>
            <a:ext cx="1645920" cy="135298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990411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  <a:latin typeface="Segoe UI"/>
              </a:rPr>
              <a:t>88
(22%)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937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Segoe UI"/>
              </a:rPr>
              <a:t>Low
(0-24)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4354324"/>
            <a:ext cx="1645920" cy="491995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31920" y="3851404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AB308"/>
                </a:solidFill>
                <a:latin typeface="Segoe UI"/>
              </a:rPr>
              <a:t>32
(8%)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4937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Segoe UI"/>
              </a:rPr>
              <a:t>Medium
(25-49)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016077"/>
            <a:ext cx="1645920" cy="83024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3513157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7316"/>
                </a:solidFill>
                <a:latin typeface="Segoe UI"/>
              </a:rPr>
              <a:t>54
(14%)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937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Segoe UI"/>
              </a:rPr>
              <a:t>High
(50-74)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1371600"/>
            <a:ext cx="1645920" cy="3474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03920" y="868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F4444"/>
                </a:solidFill>
                <a:latin typeface="Segoe UI"/>
              </a:rPr>
              <a:t>226
(56%)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9377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Segoe UI"/>
              </a:rPr>
              <a:t>Critical
(75+)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120640"/>
            <a:ext cx="11430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BD5E1"/>
                </a:solidFill>
                <a:latin typeface="Segoe UI"/>
              </a:rPr>
              <a:t>▸  56.5% of test messages classified as Critical or High — consistent with industry reports of AI-generated phishing prevalence</a:t>
            </a:r>
          </a:p>
          <a:p>
            <a:r>
              <a:rPr sz="1200">
                <a:solidFill>
                  <a:srgbClr val="CBD5E1"/>
                </a:solidFill>
                <a:latin typeface="Segoe UI"/>
              </a:rPr>
              <a:t>▸  8% false-positive rate on legit messages confirmed safe by human review — within acceptable bounds for a free tool</a:t>
            </a:r>
          </a:p>
          <a:p>
            <a:r>
              <a:rPr sz="1200">
                <a:solidFill>
                  <a:srgbClr val="CBD5E1"/>
                </a:solidFill>
                <a:latin typeface="Segoe UI"/>
              </a:rPr>
              <a:t>▸  Average risk score for confirmed phishing samples: 84.2 / 100</a:t>
            </a:r>
          </a:p>
          <a:p>
            <a:r>
              <a:rPr sz="1200">
                <a:solidFill>
                  <a:srgbClr val="CBD5E1"/>
                </a:solidFill>
                <a:latin typeface="Segoe UI"/>
              </a:rPr>
              <a:t>▸  Average risk score for confirmed legitimate messages: 9.7 / 100 — clear separation validates the scoring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Challenges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Technical Hurdles Encountered &amp; Known Constraints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562356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80160"/>
            <a:ext cx="73152" cy="13716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  <a:latin typeface="Segoe UI"/>
              </a:rPr>
              <a:t>LLM JSON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64208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Claude occasionally wraps output in markdown code fences despite explicit instructions. Mitigated by stripping fences + fallback defaults for missing keys.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280160"/>
            <a:ext cx="562356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73152" cy="13716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Segoe UI"/>
              </a:rPr>
              <a:t>CORS Misconfiguration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64208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allow_credentials=True with allow_origins='*' is rejected by browsers (spec violation). Fixed by setting allow_credentials=False.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788920"/>
            <a:ext cx="562356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0040" y="2788920"/>
            <a:ext cx="73152" cy="13716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88036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  <a:latin typeface="Segoe UI"/>
              </a:rPr>
              <a:t>Blocking Async Routes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172968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Anthropic SDK uses synchronous calls — placing them directly in async FastAPI routes starves the event loop. Fixed with asyncio.to_thread().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788920"/>
            <a:ext cx="562356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72200" y="2788920"/>
            <a:ext cx="73152" cy="137160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55080" y="288036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  <a:latin typeface="Segoe UI"/>
              </a:rPr>
              <a:t>Render Cold Starts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172968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Free tier spins down after 15 min idle; first request takes ~30 s. Addressed with UX banner and 60 s frontend timeout.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297680"/>
            <a:ext cx="562356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4297680"/>
            <a:ext cx="73152" cy="13716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438912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Segoe UI"/>
              </a:rPr>
              <a:t>Missing load_dotenv()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81728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.env was silently ignored because python-dotenv was never called. Fixed by calling load_dotenv() at module top before any os.getenv().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4297680"/>
            <a:ext cx="562356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72200" y="4297680"/>
            <a:ext cx="73152" cy="137160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55080" y="438912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  <a:latin typeface="Segoe UI"/>
              </a:rPr>
              <a:t>Animation Not Working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4681728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Segoe UI"/>
              </a:rPr>
              <a:t>animate-fade-in Tailwind class was used in JSX but the @keyframes were never defined. Fixed in both index.css and tailwind.config.js.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852160"/>
            <a:ext cx="11567160" cy="777240"/>
          </a:xfrm>
          <a:prstGeom prst="rect">
            <a:avLst/>
          </a:prstGeom>
          <a:solidFill>
            <a:srgbClr val="1621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AB308"/>
                </a:solidFill>
                <a:latin typeface="Segoe UI"/>
              </a:rPr>
              <a:t>⚠  Known Limitations:  No rate limiting — a single client can exhaust Anthropic API quota  |  Free Render tier: limited to ~50 req/min, no persistent workers  |  LLM accuracy not 100% — adversarial prompt injection possible  |  Safe Browsing covers known threats; zero-day phishing URLs pass  |  No user authentication or analysis history  |  English-centric — multilingual phishing detection is weaker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Future Scope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Roadmap for V2 and Beyond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2788920" cy="5074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80160"/>
            <a:ext cx="2788920" cy="457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298448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Segoe UI"/>
              </a:rPr>
              <a:t>Phase 1
(1-3 months)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828800"/>
            <a:ext cx="2560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Rate limiting (slowapi / Redis)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User auth (JWT / OAuth2)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Analysis history (PostgreSQL)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Browser extension (Chrome/Firefox)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Email client plugin (Gmail/Outlook)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4408" y="1280160"/>
            <a:ext cx="2788920" cy="5074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64408" y="1280160"/>
            <a:ext cx="2788920" cy="457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55848" y="1298448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Segoe UI"/>
              </a:rPr>
              <a:t>Phase 2
(3-6 months)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4136" y="1828800"/>
            <a:ext cx="2560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Fine-tuned phishing classifier (BERT)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Multilingual support (15+ languages)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Batch analysis API endpoint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Webhook integration (Slack, Teams)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SIEM integration (Splunk, QRadar)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8776" y="1280160"/>
            <a:ext cx="2788920" cy="5074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08776" y="1280160"/>
            <a:ext cx="2788920" cy="457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0216" y="1298448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Segoe UI"/>
              </a:rPr>
              <a:t>Phase 3
(6-12 months)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828800"/>
            <a:ext cx="2560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Real-time email gateway plugin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Threat intelligence feed aggregation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Federated learning across orgs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Mobile app (React Native)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Enterprise SaaS tier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53144" y="1280160"/>
            <a:ext cx="2788920" cy="5074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53144" y="1280160"/>
            <a:ext cx="2788920" cy="45720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44584" y="1298448"/>
            <a:ext cx="2560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Segoe UI"/>
              </a:rPr>
              <a:t>Commercial
Opportunity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1828800"/>
            <a:ext cx="2560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Freemium API model (1k req/mo free)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Enterprise licensing for SOC teams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White-label SDK for email providers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Market: $12.4B email security (2029)</a:t>
            </a:r>
          </a:p>
          <a:p>
            <a:pPr algn="l"/>
            <a:r>
              <a:rPr sz="1250">
                <a:solidFill>
                  <a:srgbClr val="CBD5E1"/>
                </a:solidFill>
                <a:latin typeface="Segoe UI"/>
              </a:rPr>
              <a:t>▸  Adjacent: fraud detection, content mod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8BDF8"/>
                </a:solidFill>
                <a:latin typeface="Segoe UI"/>
              </a:rPr>
              <a:t>Lessons Learned &amp; Project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1147572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73152" cy="9601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350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What We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371600"/>
            <a:ext cx="8778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A full-stack, cloud-deployed AI security tool that analyzes messages for phishing signals using Claude 3.5 Haiku and cross-checks URLs against Google Safe Browsing — returning a scored, plain-English verdict in under 2 seconds.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04288"/>
            <a:ext cx="1147572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2304288"/>
            <a:ext cx="73152" cy="9601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3591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Key Engineering Lessons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395728"/>
            <a:ext cx="8778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asyncio concurrency is critical for LLM-integrated APIs. Input validation (Pydantic HttpUrl, char caps) is the first line of defense. Environment management (load_dotenv) must be explicit, not assumed.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28416"/>
            <a:ext cx="1147572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3328416"/>
            <a:ext cx="73152" cy="9601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33832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Academic Relevance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419856"/>
            <a:ext cx="8778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Demonstrates practical application of AI/LLM APIs, cloud-native deployment (Render + Vercel), REST API design, and modern React patterns — core competencies for industry roles in 2026.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52544"/>
            <a:ext cx="1147572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5760" y="4352544"/>
            <a:ext cx="73152" cy="9601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40740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Industry Relevance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443984"/>
            <a:ext cx="8778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The tool addresses a real, growing $12.4B market segment. The architecture (FastAPI + LLM + threat intel) mirrors production systems at vendors like Abnormal Security and Darktrace.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376672"/>
            <a:ext cx="1147572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5376672"/>
            <a:ext cx="73152" cy="9601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4315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Segoe UI"/>
              </a:rPr>
              <a:t>Accessibility Impact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5468112"/>
            <a:ext cx="8778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Segoe UI"/>
              </a:rPr>
              <a:t>By providing plain-English explanations and a zero-friction UI, SafeInbox AI democratizes cybersecurity awareness for non-technical users — the most common phishing victims.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References &amp; Acknowledgements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[1]  Proofpoint. (2024). State of the Phish Annual Report. https://www.proofpoint.com/us/resources/threat-reports/state-of-phish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[2]  IBM Security. (2024). Cost of a Data Breach Report. https://www.ibm.com/reports/data-breach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[3]  Anthropic. (2024). Claude 3.5 Haiku Model Card. https://www.anthropic.com/claude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[4]  Google. (2024). Safe Browsing API v4 Documentation. https://developers.google.com/safe-browsing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[5]  MarketsandMarkets. (2024). Email Security Market Global Forecast to 2029.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[6]  FastAPI Documentation. https://fastapi.tiangolo.com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[7]  Pydantic v2 Documentation. https://docs.pydantic.dev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[8]  Vercel Platform Documentation. https://vercel.com/docs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[9]  Render.com Documentation. https://render.com/docs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[10] OWASP. (2023). Phishing Prevention Cheat Sheet. https://cheatsheetseries.owasp.org</a:t>
            </a:r>
          </a:p>
          <a:p>
            <a:pPr algn="l"/>
            <a:r>
              <a:rPr sz="1150">
                <a:solidFill>
                  <a:srgbClr val="CBD5E1"/>
                </a:solidFill>
                <a:latin typeface="Segoe UI"/>
              </a:rPr>
              <a:t>[11] Verizon. (2024). Data Breach Investigations Report (DBIR). https://www.verizon.com/business/resources/reports/dbir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5532120"/>
            <a:ext cx="11475720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5577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Segoe UI"/>
              </a:rPr>
              <a:t>Acknowledgements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25312"/>
            <a:ext cx="111556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CBD5E1"/>
                </a:solidFill>
                <a:latin typeface="Segoe UI"/>
              </a:rPr>
              <a:t>IBM </a:t>
            </a:r>
            <a:r>
              <a:rPr sz="1200" b="0" i="0" dirty="0" err="1">
                <a:solidFill>
                  <a:srgbClr val="CBD5E1"/>
                </a:solidFill>
                <a:latin typeface="Segoe UI"/>
              </a:rPr>
              <a:t>SkillsBuild</a:t>
            </a:r>
            <a:r>
              <a:rPr sz="1200" b="0" i="0" dirty="0">
                <a:solidFill>
                  <a:srgbClr val="CBD5E1"/>
                </a:solidFill>
                <a:latin typeface="Segoe UI"/>
              </a:rPr>
              <a:t> Program  ·  Anthropic (Claude API)  ·  Google (Safe Browsing API)  ·  Open-source community (</a:t>
            </a:r>
            <a:r>
              <a:rPr sz="1200" b="0" i="0" dirty="0" err="1">
                <a:solidFill>
                  <a:srgbClr val="CBD5E1"/>
                </a:solidFill>
                <a:latin typeface="Segoe UI"/>
              </a:rPr>
              <a:t>FastAPI</a:t>
            </a:r>
            <a:r>
              <a:rPr sz="1200" b="0" i="0">
                <a:solidFill>
                  <a:srgbClr val="CBD5E1"/>
                </a:solidFill>
                <a:latin typeface="Segoe UI"/>
              </a:rPr>
              <a:t>, React, Tailwind CSS, Vite)  ·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0" y="73152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0" b="0" i="0">
                <a:solidFill>
                  <a:srgbClr val="6366F1"/>
                </a:solidFill>
                <a:latin typeface="Segoe UI"/>
              </a:rPr>
              <a:t>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38BDF8"/>
                </a:solidFill>
                <a:latin typeface="Segoe UI"/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434840"/>
            <a:ext cx="393192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Segoe UI"/>
              </a:rPr>
              <a:t>SafeInbox AI  ·  IBM SkillsBuild Capstone  ·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8BDF8"/>
                </a:solidFill>
                <a:latin typeface="Segoe UI"/>
              </a:rPr>
              <a:t>GitHub: github.com/YOUR_USERNAME/safeinbox-ai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8BDF8"/>
                </a:solidFill>
                <a:latin typeface="Segoe UI"/>
              </a:rPr>
              <a:t>Live Demo: https://safeinbox-ai.vercel.app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Segoe U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3050</Words>
  <Application>Microsoft Office PowerPoint</Application>
  <PresentationFormat>Custom</PresentationFormat>
  <Paragraphs>426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Sandeep H N</cp:lastModifiedBy>
  <cp:revision>2</cp:revision>
  <dcterms:created xsi:type="dcterms:W3CDTF">2013-01-27T09:14:16Z</dcterms:created>
  <dcterms:modified xsi:type="dcterms:W3CDTF">2026-09-08T15:15:22Z</dcterms:modified>
  <cp:category/>
</cp:coreProperties>
</file>