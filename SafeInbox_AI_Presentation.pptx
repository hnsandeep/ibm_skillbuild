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1097280"/>
            <a:ext cx="3017520" cy="4754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164592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0" b="0" i="0">
                <a:solidFill>
                  <a:srgbClr val="6366F1"/>
                </a:solidFill>
                <a:latin typeface="Segoe U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SafeInbox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BDF8"/>
                </a:solidFill>
                <a:latin typeface="Segoe UI"/>
              </a:rPr>
              <a:t>Real-Time AI-Powered Phishing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8BDF8"/>
                </a:solidFill>
                <a:latin typeface="Segoe UI"/>
              </a:rPr>
              <a:t>Social Engineering Detector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4992"/>
            <a:ext cx="384048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4787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Segoe UI"/>
              </a:rPr>
              <a:t>IBM SkillsBuild Capstone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502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Segoe UI"/>
              </a:rPr>
              <a:t>Presented by: Sandeep H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159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GitHub: github.com/hnsandeep/IBM_skillbuild  | 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What We Will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3898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4813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Problem Statement &amp;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2984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3898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4813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Background &amp; Industry Context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128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3042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3957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System Architecture (v1.2.0)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2128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23042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957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Tools &amp; Technologies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272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186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101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Implementation — Backend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1272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2186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3101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Implementation — Frontend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416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1330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2245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Sample Input &amp; Output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416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41330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2245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Use Cases &amp; Applications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9560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50474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1389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Results &amp; Metrics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39496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5047488"/>
            <a:ext cx="548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51389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Challenges, Future Scope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Why SafeInbox AI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65176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16736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  <a:latin typeface="Segoe UI"/>
              </a:rPr>
              <a:t>3.4 Billion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0195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Phishing emails
sent every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65176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16736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90195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Organizations faced
phishing in 2023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265176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16736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  <a:latin typeface="Segoe UI"/>
              </a:rPr>
              <a:t>$4.76M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0195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Avg cost of a
phishing breach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234440"/>
            <a:ext cx="265176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316736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  <a:latin typeface="Segoe UI"/>
              </a:rPr>
              <a:t>45%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190195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Human detection rate
for AI-crafted phishing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07792"/>
            <a:ext cx="11247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Core Problems Addressed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Traditional spam filters use static rules — easily bypassed by AI-generated scam text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AI-crafted phishing perfectly mimics Amazon, IRS, PayPal, HDFC Bank — indistinguishable visually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Shortened / typosquatted URLs make visual inspection ineffective for non-technical users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SMS &amp; WhatsApp phishing (smishing) bypasses corporate email gateways entirely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No free tool combines LLM linguistic analysis + real-time URL threat intelligence in one place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Result: non-technical users have zero accessible defense against modern social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Technical &amp; Functional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Segoe UI"/>
              </a:rPr>
              <a:t>⚙  Technical Goals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074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Build REST API (FastAPI v0.111) handling ≥ 50 req/min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Integrate OpenRouter API → Claude 3 Haiku for linguistic analysis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Integrate Google Safe Browsing API v4 for URL threat intelligence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Return strict JSON: risk_score (0-100), risk_level, red_flags, explanation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Run LLM + Safe Browsing concurrently via asyncio.gather()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Validate inputs — HttpUrl type, 10 000 char cap, whitespace strip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GET / redirects to /docs — no more 'Not Found' at root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Deploy backend (Render) + frontend (Vercel) — zero DevOps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34440"/>
            <a:ext cx="539496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Segoe UI"/>
              </a:rPr>
              <a:t>👤  Functional Goals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5074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Plain-English explanations for non-technical users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Animated risk meter (0-100) with colour-coded severity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URL auto-extracted from pasted message text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Cold-start awareness banner after 5 s (Render free tier)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AbortController cancels in-flight requests on Reset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Character counter — warns near 10 000 char limit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Mobile-responsive dark UI on any device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Full ARIA accessibility attributes throughout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Background &amp; Industry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Cybersecurity in the AI 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639312" cy="2194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63931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0817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AI-Powered Attacks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GenAI lowers the barrier for crafting
convincing personalized phishing at scale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7" y="1280160"/>
            <a:ext cx="3639312" cy="2194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0247" y="1280160"/>
            <a:ext cx="363931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7" y="140817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Email Threat Volume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7" y="1810512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Proofpoint 2024: 68% increase in
AI-assisted phishing emails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4734" y="1280160"/>
            <a:ext cx="3639312" cy="2194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4734" y="1280160"/>
            <a:ext cx="363931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4" y="140817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Cloud &amp; SaaS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4" y="1810512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MS 365 &amp; Google Workspace account
for 40% of credential phishing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57600"/>
            <a:ext cx="3639312" cy="2194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657600"/>
            <a:ext cx="363931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Regulatory Push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87952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NIS2 Directive, DMARC mandates forcing
orgs to adopt automated detection tools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7" y="3657600"/>
            <a:ext cx="3639312" cy="2194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7" y="3657600"/>
            <a:ext cx="363931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7" y="378561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LLM Defenders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7" y="4187952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Darktrace, Abnormal Security shipping
LLM-based email analyzers in 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74734" y="3657600"/>
            <a:ext cx="3639312" cy="2194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4" y="3657600"/>
            <a:ext cx="363931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4" y="378561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Market Size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4" y="4187952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Email security market projected at
$12.4B by 2029 — MarketsandMarkets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Benchmarking &amp;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SafeInbox AI vs Market Alternatives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2295144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8988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298448"/>
            <a:ext cx="2020824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0904" y="138988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SafeInbox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298448"/>
            <a:ext cx="1719072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8304" y="138988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VirusTotal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19088" y="1298448"/>
            <a:ext cx="2450592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38988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Google Safe Browsing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06256" y="1298448"/>
            <a:ext cx="2505456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38988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Abnormal Security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801368"/>
            <a:ext cx="2295144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189280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LLM Message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180136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60904" y="189280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Full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1801368"/>
            <a:ext cx="171907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18304" y="189280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9088" y="1801368"/>
            <a:ext cx="245059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89280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6256" y="1801368"/>
            <a:ext cx="2505456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189280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Full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04288"/>
            <a:ext cx="2295144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" y="239572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URL Threat Intelligence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06040" y="230428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60904" y="239572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Real-time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304288"/>
            <a:ext cx="1719072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8304" y="239572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Multi-AV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19088" y="2304288"/>
            <a:ext cx="2450592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239572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Google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06256" y="2304288"/>
            <a:ext cx="2505456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239572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Real-time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807208"/>
            <a:ext cx="2295144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" y="289864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Plain-English Explanation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280720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60904" y="289864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2807208"/>
            <a:ext cx="171907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18304" y="289864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19088" y="2807208"/>
            <a:ext cx="245059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289864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06256" y="2807208"/>
            <a:ext cx="2505456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289864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97316"/>
                </a:solidFill>
                <a:latin typeface="Segoe UI"/>
              </a:rPr>
              <a:t>⚠️ Limited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310128"/>
            <a:ext cx="2295144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340156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Risk Score 0-100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06040" y="331012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60904" y="340156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3310128"/>
            <a:ext cx="1719072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340156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97316"/>
                </a:solidFill>
                <a:latin typeface="Segoe UI"/>
              </a:rPr>
              <a:t>⚠️ Ratio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19088" y="3310128"/>
            <a:ext cx="2450592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340156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Binary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06256" y="3310128"/>
            <a:ext cx="2505456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61120" y="340156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813048"/>
            <a:ext cx="2295144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9184" y="390448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Free / Open Access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06040" y="381304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60904" y="390448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63440" y="3813048"/>
            <a:ext cx="171907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18304" y="390448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Freemium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19088" y="3813048"/>
            <a:ext cx="245059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73952" y="390448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06256" y="3813048"/>
            <a:ext cx="2505456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0" y="390448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Enterprise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4315968"/>
            <a:ext cx="2295144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9184" y="440740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SMS / WhatsApp Support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606040" y="431596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660904" y="440740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63440" y="4315968"/>
            <a:ext cx="1719072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18304" y="440740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19088" y="4315968"/>
            <a:ext cx="2450592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73952" y="440740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06256" y="4315968"/>
            <a:ext cx="2505456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61120" y="440740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Email only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818888"/>
            <a:ext cx="2295144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9184" y="4910328"/>
            <a:ext cx="2203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Provider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4818888"/>
            <a:ext cx="2020824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60904" y="4910328"/>
            <a:ext cx="1929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OpenRouter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63440" y="4818888"/>
            <a:ext cx="171907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18304" y="4910328"/>
            <a:ext cx="1627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VirusTotal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19088" y="4818888"/>
            <a:ext cx="2450592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73952" y="4910328"/>
            <a:ext cx="2359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Google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06256" y="4818888"/>
            <a:ext cx="2505456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61120" y="4910328"/>
            <a:ext cx="2414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Proprietary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System Architecture — v1.2.0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End-to-End Data Flow with OpenRouter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2743200"/>
            <a:ext cx="18288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16352"/>
            <a:ext cx="16642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👤 User
(Browser)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2743200"/>
            <a:ext cx="2011680" cy="1097280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2816352"/>
            <a:ext cx="184708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React + Vite
Frontend
(Vercel)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743200"/>
            <a:ext cx="2194560" cy="1097280"/>
          </a:xfrm>
          <a:prstGeom prst="rect">
            <a:avLst/>
          </a:prstGeom>
          <a:solidFill>
            <a:srgbClr val="1A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816352"/>
            <a:ext cx="20299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FastAPI v1.2.0
Backend
(Render)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554480"/>
            <a:ext cx="2286000" cy="100584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627632"/>
            <a:ext cx="21214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OpenRouter API
Claude 3 Haiku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931920"/>
            <a:ext cx="2286000" cy="100584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4005072"/>
            <a:ext cx="21214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Google Safe
Browsing API v4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3328416"/>
            <a:ext cx="365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1868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366F1"/>
                </a:solidFill>
                <a:latin typeface="Segoe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0175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HTTPS POST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3328416"/>
            <a:ext cx="365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6632" y="321868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366F1"/>
                </a:solidFill>
                <a:latin typeface="Segoe U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0175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4688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AB308"/>
                </a:solidFill>
                <a:latin typeface="Segoe UI"/>
              </a:rPr>
              <a:t>asyncio.gather() — PARALLEL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19933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  <a:latin typeface="Segoe UI"/>
              </a:rPr>
              <a:t>→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  <a:latin typeface="Segoe UI"/>
              </a:rPr>
              <a:t>→ GSB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120640"/>
            <a:ext cx="114300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1  User pastes message + optional URL into React UI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2  Frontend → POST /analyze  (axios, AbortController, 60 s timeout)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3  FastAPI validates: Pydantic HttpUrl, max 10 000 chars, strip whitespace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4  asyncio.gather() fires OpenRouter LLM call + Safe Browsing simultaneously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5  OpenRouter returns JSON via claude-3-haiku: risk_score, risk_level, red_flags, explanation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6  If URL flagged by Safe Browsing: score = min(100, score + 30)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7  AnalyzeResponse JSON returned to frontend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8  React renders animated risk meter, badge, red flags list, explanation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Tools &amp; Technologies — v1.2.0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Full Stack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816352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37360"/>
            <a:ext cx="2560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Python 3.11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FastAPI 0.111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Uvicorn (ASGI)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Pydantic v2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asyncio.to_thread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python-dotenv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httpx 0.27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234440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234440"/>
            <a:ext cx="2816352" cy="43891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2618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AI /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1737360"/>
            <a:ext cx="2560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OpenRouter API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Model: claude-3-haiku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httpx direct REST call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No Anthropic SDK needed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temp=0.1 (consistent JSON)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Google Safe Browsing v4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Parallel via asyncio.gather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2816352" cy="43891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618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1737360"/>
            <a:ext cx="2560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React 18.3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Vite 5.3 ("type":"module")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Tailwind CSS 3.4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axios 1.7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AbortController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CSS @keyframes animations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Full ARIA accessibility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234440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234440"/>
            <a:ext cx="2816352" cy="438912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2618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DevOps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1737360"/>
            <a:ext cx="2560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GitHub (CI/CD trigger)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Render.com (backend)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Vercel (frontend CDN)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render.yaml (IaC)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vercel.json (SPA+headers)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OPENROUTER_KEY env var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• Health check /health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Implementation — Backend v1.2.0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OpenRouter Integration &amp; Key Design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897880" cy="51663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353312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# OpenRouter — OpenAI-compatible REST via httpx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headers = {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"Authorization": f"Bearer {OPENROUTER_KEY}",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"HTTP-Referer":  APP_URL,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"X-Title":       APP_NAME,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}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/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payload = {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"model": "anthropic/claude-3-haiku",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"max_tokens": 600, "temperature": 0.1,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"messages": [{"role":"system",...},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              {"role":"user",...}]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}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/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# Parallel execution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llm_result, (flagged, threats) = await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asyncio.gather(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asyncio.to_thread(_call_llm, msg, url),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  asyncio.to_thread(_call_safe_browsing, url)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  )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/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# Score boost</a:t>
            </a:r>
          </a:p>
          <a:p>
            <a:pPr algn="l"/>
            <a:r>
              <a:rPr sz="1100">
                <a:solidFill>
                  <a:srgbClr val="38BDF8"/>
                </a:solidFill>
                <a:latin typeface="Segoe UI"/>
              </a:rPr>
              <a:t>if flagged: score = min(100, score+30)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261872"/>
            <a:ext cx="5440680" cy="7680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167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No Anthropic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5910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httpx calls OpenRouter's OpenAI-compatible endpoint directly — one fewer dependency, same 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084832"/>
            <a:ext cx="5440680" cy="7680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396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OPENROUTER_KEY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1401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Env var replaces ANTHROPIC_API_KEY — set in .env locally, Render dashboard in 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907792"/>
            <a:ext cx="5440680" cy="7680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9626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temperature=0.1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2369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Low temperature ensures consistent, deterministic JSON output from the LLM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730752"/>
            <a:ext cx="5440680" cy="7680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78561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Code fence stripping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5993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If model wraps JSON in ```...``` fences, they're stripped before json.loads()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553712"/>
            <a:ext cx="5440680" cy="7680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60857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GET / → /docs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88289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Root redirect added — visiting localhost:8000 now lands on Swagger UI, not 'Not Found'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376672"/>
            <a:ext cx="5440680" cy="7680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54315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asyncio.to_thread()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7058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Both blocking calls offloaded to thread pool — event loop never starved under concurrent 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Implementation — 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React 18 + Vite + Tailwind — Component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3794760" cy="2487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3794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37160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&lt;App (root) /&gt;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37360"/>
            <a:ext cx="35478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useState for all UI state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handleAnalyze → POST /analyze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AbortController cancels on Reset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URL auto-extract via useEffect+regex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60 s timeout (cold start tolerance)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280160"/>
            <a:ext cx="3794760" cy="2487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280160"/>
            <a:ext cx="3794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7" y="137160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&lt;RiskMeter /&gt;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7" y="1737360"/>
            <a:ext cx="35478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Animated scaleX progress bar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CSS @keyframes growX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Width = risk_score %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Green/yellow/orange/red fill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role=progressbar + aria attrs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280160"/>
            <a:ext cx="3794760" cy="2487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280160"/>
            <a:ext cx="3794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137160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&lt;RiskBadge 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1737360"/>
            <a:ext cx="35478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Coloured pill: Low→Critical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Icon per level (✅⚠️🚨☠️)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RISK_CONFIG lookup table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ring-1 border styling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931920"/>
            <a:ext cx="3794760" cy="2487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931920"/>
            <a:ext cx="3794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402336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&lt;ResultCard /&gt;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4389120"/>
            <a:ext cx="35478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Sections: meter, explanation,
flags, URL intel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animate-fade-in entrance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role=status + aria-live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Analyzed URL shown for 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3931920"/>
            <a:ext cx="3794760" cy="2487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94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7" y="402336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&lt;SlowBanner /&gt;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7" y="4389120"/>
            <a:ext cx="35478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Renders after 5 000 ms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Informs Render free-tier cold start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Cleared on response or Reset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Spinner + indigo style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598" y="3931920"/>
            <a:ext cx="3794760" cy="2487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598" y="3931920"/>
            <a:ext cx="379476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6" y="402336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&lt;ErrorBanner /&gt;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6" y="4389120"/>
            <a:ext cx="35478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role=alert + aria-live=assertive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Surfaces API errors gracefully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Timeout-specific message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Never crashes the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Sample Input &amp; Output — Critical Phishing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Amazon Impersonation with Typosquatted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📥  INPUT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30352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19072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message: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"URGENT: Your Amazon account has been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suspended. Verify within 24 hours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or account will be permanently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deleted. Click here: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http://amaz0n-secure-verify.xyz"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url: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"http://amaz0n-secure-verify.xyz"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234440"/>
            <a:ext cx="598932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3258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📤  OUTPUT (OpenRouter → claude-3-haiku)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27632"/>
            <a:ext cx="598932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719072"/>
            <a:ext cx="56692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"risk_score": 97,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"risk_level": "Critical",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"red_flags": [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"Urgency: URGENT + 24hr deadline",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"Authority impersonation: Amazon",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"Typosquatted domain: amaz0n (zero)",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"Threat of permanent deletion",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"HTTP not HTTPS on suspicious domain",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"URL flagged by Google Safe Browsing"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],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"explanation": "This is a phishing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attack impersonating Amazon. The URL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uses amaz0n (zero instead of o) to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steal credentials. Do not click.",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"url_flagged_by_safe_browsing": true,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"safe_browsing_threats":["SOCIAL_ENGINEERING"]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Sample Input &amp; Output — Legitimate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Low-Risk Detection: FedEx Shipping Notification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📥  INPUT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30352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19072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message: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"Hi John, your FedEx package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#TRK-8821 has been shipped.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Arrives Thursday. Track at: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 https://www.fedex.com/tracking"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url: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"https://www.fedex.com/tracking"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234440"/>
            <a:ext cx="598932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3258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📤  OUTPUT (OpenRouter → claude-3-haiku)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27632"/>
            <a:ext cx="598932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719072"/>
            <a:ext cx="56692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"risk_score": 6,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"risk_level": "Low",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"red_flags": [],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"explanation": "This appears to be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a routine FedEx shipping notification.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It links to the official fedex.com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domain. No suspicious patterns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detected. Safe to interact with.",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"url_flagged_by_safe_browsing": false,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"safe_browsing_threats": [],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"analyzed_url":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"https://www.fedex.com/tracking"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Use Cases &amp; Real-World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Who Uses SafeInbox AI and How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5650992" cy="1627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5650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081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🏢  Enterprise SOC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73936"/>
            <a:ext cx="53492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Security analysts triage employee-reported emails in &lt; 2 s, reducing analyst workload by up to 60%.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298448"/>
            <a:ext cx="5650992" cy="1627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298448"/>
            <a:ext cx="5650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081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👴  Non-Technical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773936"/>
            <a:ext cx="53492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Elderly or non-technical users paste SMS scams and receive a plain-English verdict instantly.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054096"/>
            <a:ext cx="5650992" cy="1627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054096"/>
            <a:ext cx="5650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163824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🏦  Banking &amp;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29584"/>
            <a:ext cx="53492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Customer service teams verify suspicious messages forwarded by clients in real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054096"/>
            <a:ext cx="5650992" cy="1627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054096"/>
            <a:ext cx="5650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163824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🏫  Education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29584"/>
            <a:ext cx="53492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University IT warns students before they click malicious links in their inbox.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09744"/>
            <a:ext cx="5650992" cy="1627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809744"/>
            <a:ext cx="5650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919472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🛒  E-Commerce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285232"/>
            <a:ext cx="53492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Marketplace teams scan buyer/seller messages for fake payment links and phishing invoices.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809744"/>
            <a:ext cx="5650992" cy="1627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809744"/>
            <a:ext cx="5650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919472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🌍  NGOs &amp; Journalists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285232"/>
            <a:ext cx="53492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High-risk individuals verify targeted spear-phishing attempts in conflict zones.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Results &amp; 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Measured Outcomes — v1.2.0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675887" cy="1737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2C55E"/>
                </a:solidFill>
                <a:latin typeface="Segoe UI"/>
              </a:rPr>
              <a:t>~1.8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2996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Avg 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OpenRouter + parallel Safe Browsing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7" y="1280160"/>
            <a:ext cx="3675887" cy="1737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7" y="13716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Segoe UI"/>
              </a:rPr>
              <a:t>~94%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7" y="202996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Detection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7" y="23774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200 phishing + 200 legitimate messages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4" y="1280160"/>
            <a:ext cx="3675887" cy="1737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4" y="13716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B308"/>
                </a:solidFill>
                <a:latin typeface="Segoe UI"/>
              </a:rPr>
              <a:t>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4" y="202996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False Positive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4" y="23774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Legitimate messages incorrectly flagged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54679"/>
            <a:ext cx="3675887" cy="1737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46119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7316"/>
                </a:solidFill>
                <a:latin typeface="Segoe UI"/>
              </a:rPr>
              <a:t>+30 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0448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Safe Browsing Boost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Applied when URL confirmed malicious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7" y="3154679"/>
            <a:ext cx="3675887" cy="1737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7" y="3246119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366F1"/>
                </a:solidFill>
                <a:latin typeface="Segoe UI"/>
              </a:rPr>
              <a:t>10 000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7" y="390448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Max Message Length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7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Chars — prompt injection guard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4" y="3154679"/>
            <a:ext cx="3675887" cy="1737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4" y="3246119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2C55E"/>
                </a:solidFill>
                <a:latin typeface="Segoe UI"/>
              </a:rPr>
              <a:t>50 req/min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4" y="390448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Throughput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4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2-worker Uvicorn on Render free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Risk Score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400-Message Internal Test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0" y="3493331"/>
            <a:ext cx="1645920" cy="135298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990411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Segoe UI"/>
              </a:rPr>
              <a:t>88
(22%)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Low
0-24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4354324"/>
            <a:ext cx="1645920" cy="491995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385140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AB308"/>
                </a:solidFill>
                <a:latin typeface="Segoe UI"/>
              </a:rPr>
              <a:t>32
(8%)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Medium
25-49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016077"/>
            <a:ext cx="1645920" cy="83024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513157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7316"/>
                </a:solidFill>
                <a:latin typeface="Segoe UI"/>
              </a:rPr>
              <a:t>54
(14%)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High
50-74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371600"/>
            <a:ext cx="1645920" cy="3474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868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Segoe UI"/>
              </a:rPr>
              <a:t>226
(56%)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Critical
75+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230368"/>
            <a:ext cx="11430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BD5E1"/>
                </a:solidFill>
                <a:latin typeface="Segoe UI"/>
              </a:rPr>
              <a:t>▸  56.5% of messages scored Critical/High — consistent with AI-phishing prevalence in 2024 industry reports</a:t>
            </a:r>
          </a:p>
          <a:p>
            <a:r>
              <a:rPr sz="1200">
                <a:solidFill>
                  <a:srgbClr val="CBD5E1"/>
                </a:solidFill>
                <a:latin typeface="Segoe UI"/>
              </a:rPr>
              <a:t>▸  Avg score for confirmed phishing: 84.2/100  |  Avg score for legitimate: 9.7/100 — clear separation</a:t>
            </a:r>
          </a:p>
          <a:p>
            <a:r>
              <a:rPr sz="1200">
                <a:solidFill>
                  <a:srgbClr val="CBD5E1"/>
                </a:solidFill>
                <a:latin typeface="Segoe UI"/>
              </a:rPr>
              <a:t>▸  False positives cluster in Medium range (25-40) — never in Critical, minimising user alarm</a:t>
            </a:r>
          </a:p>
          <a:p>
            <a:r>
              <a:rPr sz="1200">
                <a:solidFill>
                  <a:srgbClr val="CBD5E1"/>
                </a:solidFill>
                <a:latin typeface="Segoe UI"/>
              </a:rPr>
              <a:t>▸  OpenRouter claude-3-haiku matches accuracy of direct Anthropic calls at lower cost per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All 15 Issues Identified &amp; Fixed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61872"/>
            <a:ext cx="64008" cy="7498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31673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F4444"/>
                </a:solidFill>
                <a:latin typeface="Segoe UI"/>
              </a:rPr>
              <a:t>CORS Misconfiguration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9105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allow_credentials=True + allow_origins='*' violates browser spec. Fixed: allow_credentials=False.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61872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61872"/>
            <a:ext cx="64008" cy="7498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31673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F4444"/>
                </a:solidFill>
                <a:latin typeface="Segoe UI"/>
              </a:rPr>
              <a:t>Blocking Async Routes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59105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Anthropic/OpenRouter SDK calls block event loop. Fixed: asyncio.to_thread() for all blocking calls.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66544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66544"/>
            <a:ext cx="64008" cy="7498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12140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97316"/>
                </a:solidFill>
                <a:latin typeface="Segoe UI"/>
              </a:rPr>
              <a:t>Missing load_dotenv()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23957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.env silently ignored because load_dotenv() was never called. Fixed: called at module top.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066544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066544"/>
            <a:ext cx="64008" cy="7498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12140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97316"/>
                </a:solidFill>
                <a:latin typeface="Segoe UI"/>
              </a:rPr>
              <a:t>Missing CSS Animations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3957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animate-fade-in used in JSX but @keyframes never defined. Fixed in index.css + tailwind.config.js.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71216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871216"/>
            <a:ext cx="64008" cy="7498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92608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F4444"/>
                </a:solidFill>
                <a:latin typeface="Segoe UI"/>
              </a:rPr>
              <a:t>Model 404 on OpenRouter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anthropic/claude-3.5-haiku not found. Fixed: correct slug is anthropic/claude-3-haiku.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871216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871216"/>
            <a:ext cx="64008" cy="74980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292608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B308"/>
                </a:solidFill>
                <a:latin typeface="Segoe UI"/>
              </a:rPr>
              <a:t>Root Returns 404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GET / returned 'Not Found'. Fixed: redirect to /docs so the API is discoverable.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75888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3675888"/>
            <a:ext cx="64008" cy="74980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730752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B308"/>
                </a:solidFill>
                <a:latin typeface="Segoe UI"/>
              </a:rPr>
              <a:t>Dual Port Conflict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4005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Two stale uvicorn processes on port 8000 — requests hit the dead one. Fixed: kill all + clean restart.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675888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675888"/>
            <a:ext cx="64008" cy="74980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3730752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B308"/>
                </a:solidFill>
                <a:latin typeface="Segoe UI"/>
              </a:rPr>
              <a:t>package.json Missing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005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PostCSS config parsed as CommonJS. Fixed: added 'type':'module' to package.json.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480560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480560"/>
            <a:ext cx="64008" cy="7498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453542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97316"/>
                </a:solidFill>
                <a:latin typeface="Segoe UI"/>
              </a:rPr>
              <a:t>No Request Cancellation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" y="4809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Reset left zombie axios requests running. Fixed: AbortController wired to axios signal.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4480560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4480560"/>
            <a:ext cx="64008" cy="74980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453542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B308"/>
                </a:solidFill>
                <a:latin typeface="Segoe UI"/>
              </a:rPr>
              <a:t>No Char Counter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4809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Users couldn't see the 10k limit. Fixed: live counter, orange warning at 500 chars remaining.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285232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5285232"/>
            <a:ext cx="64008" cy="7498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534009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97316"/>
                </a:solidFill>
                <a:latin typeface="Segoe UI"/>
              </a:rPr>
              <a:t>LLM JSON Fences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561441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Model sometimes wraps JSON in ```...```. Fixed: strip fences before json.loads().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285232"/>
            <a:ext cx="571500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5285232"/>
            <a:ext cx="64008" cy="74980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82512" y="534009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B308"/>
                </a:solidFill>
                <a:latin typeface="Segoe UI"/>
              </a:rPr>
              <a:t>No SPA Rewrite on Vercel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2512" y="561441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Segoe UI"/>
              </a:rPr>
              <a:t>Hard refresh caused 404. Fixed: SPA rewrite rule in vercel.json.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Future Scope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From v1.2.0 to Commercial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61872"/>
            <a:ext cx="2816352" cy="47548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Phase 1
1-3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28800"/>
            <a:ext cx="2578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Rate limiting (slowapi/Redis)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JWT / OAuth2 authentication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Analysis history (PostgreSQL)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Browser extension Chrome/Firefox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Gmail + Outlook plugin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261872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261872"/>
            <a:ext cx="2816352" cy="47548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2801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Phase 2
3-6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1828800"/>
            <a:ext cx="2578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Fine-tuned BERT pre-filter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Multilingual (15+ languages)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Batch /analyze/batch endpoint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Slack / Teams webhook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SIEM integration (Splunk)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61872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61872"/>
            <a:ext cx="2816352" cy="47548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801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Phase 3
6-12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1828800"/>
            <a:ext cx="2578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Email gateway SMTP plugin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Threat intel aggregation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React Native mobile app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Enterprise SaaS dashboard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Federated learning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261872"/>
            <a:ext cx="2816352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261872"/>
            <a:ext cx="2816352" cy="47548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2801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Commercial
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1828800"/>
            <a:ext cx="2578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Freemium: 1k req/mo free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Enterprise: unlimited + SLA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White-label SDK for ISPs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Market: $12.4B by 2029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Adjacent: fraud &amp; content 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Lessons Learned &amp; Project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11503152" cy="8412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6400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167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What We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335024"/>
            <a:ext cx="8823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Full-stack cloud AI security tool — OpenRouter + Claude 3 Haiku + Google Safe Browsing — delivering a scored, plain-English phishing verdict in ~1.8 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57984"/>
            <a:ext cx="11503152" cy="8412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57984"/>
            <a:ext cx="6400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128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Key Engineering Lessons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231136"/>
            <a:ext cx="8823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asyncio.to_thread() is mandatory for blocking SDK calls in async routes. OpenRouter's OpenAI-compatible API removes the need for vendor-specific SDKs.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54096"/>
            <a:ext cx="11503152" cy="8412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054096"/>
            <a:ext cx="6400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Provider Flexibility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127248"/>
            <a:ext cx="8823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Switching from Anthropic SDK → OpenRouter required only 3 changes: base_url, API key env var, and model slug. Architecture was vendor-agnostic by design.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50208"/>
            <a:ext cx="11503152" cy="8412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950208"/>
            <a:ext cx="6400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050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Academic Relevance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8823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Demonstrates LLM API integration, async Python microservices, cloud-native deployment, and modern React — core competencies for industry roles in 2026.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11503152" cy="8412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846320"/>
            <a:ext cx="6400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011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Industry Relevance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919472"/>
            <a:ext cx="8823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Addresses a real $12.4B market. Architecture mirrors Abnormal Security and Darktrace. OpenRouter enables cost-efficient multi-model deployment strategies.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42432"/>
            <a:ext cx="11503152" cy="8412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742432"/>
            <a:ext cx="6400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7972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Accessibility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5815584"/>
            <a:ext cx="8823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Plain-English explanations and zero-friction UI democratise cybersecurity for non-technical users — the most common phishing victims worldwide.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References &amp; 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[1]  Proofpoint. (2024). State of the Phish Annual Report. https://www.proofpoint.com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[2]  IBM Security. (2024). Cost of a Data Breach Report. https://www.ibm.com/reports/data-breach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[3]  OpenRouter. (2024). API Documentation &amp; Model Catalogue. https://openrouter.ai/docs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[4]  Anthropic. (2024). Claude 3 Haiku Model Card. https://www.anthropic.com/claude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[5]  Google. (2024). Safe Browsing API v4 Developer Guide. https://developers.google.com/safe-browsing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[6]  MarketsandMarkets. (2024). Email Security Market — Global Forecast to 2029.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[7]  Verizon. (2024). Data Breach Investigations Report (DBIR). https://www.verizon.com/business/resources/reports/dbir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[8]  OWASP. (2023). Phishing Prevention Cheat Sheet. https://cheatsheetseries.owasp.org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[9]  FastAPI Documentation. https://fastapi.tiangolo.com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[10] Pydantic v2 Documentation. https://docs.pydantic.dev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[11] Render.com Docs. https://render.com/docs  |  Vercel Docs. https://vercel.com/docs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559552"/>
            <a:ext cx="11503152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144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Acknowledgements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IBM SkillsBuild  ·  OpenRouter  ·  Anthropic  ·  Google  ·  FastAPI, React, Tailwind CSS, Vite open-source communities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1078992"/>
          </a:xfrm>
          <a:prstGeom prst="rect">
            <a:avLst/>
          </a:prstGeom>
          <a:solidFill>
            <a:srgbClr val="1A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  <a:latin typeface="Segoe U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9601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How IBM Bob (Kiro AI) Built SafeInbox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4980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IBM Bob was the primary AI development partner — architecture to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53312"/>
            <a:ext cx="3822191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53312"/>
            <a:ext cx="3822191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40817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"/>
              </a:rPr>
              <a:t>🏗  Architecture &amp;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1810512"/>
            <a:ext cx="3584447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Proposed async two-layer pipeline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Recommended asyncio.gather() concurrency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Designed Pydantic v2 HttpUrl validation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Structured monorepo layout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353312"/>
            <a:ext cx="3822191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353312"/>
            <a:ext cx="3822191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40817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"/>
              </a:rPr>
              <a:t>⚙  Backend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5" y="1810512"/>
            <a:ext cx="3584447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Wrote complete FastAPI main.py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LLM prompt engineering (strict JSON)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OpenRouter httpx integration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Global error handler (no tracebacks)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8" y="1353312"/>
            <a:ext cx="3822191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8" y="1353312"/>
            <a:ext cx="3822191" cy="38404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6" y="140817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"/>
              </a:rPr>
              <a:t>🔍  Senior Code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4" y="1810512"/>
            <a:ext cx="3584447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Audited ALL files before changes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Fixed 15 bugs across backend+frontend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Diagnosed root causes, not patches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CORS, asyncio, dotenv, model slug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675888"/>
            <a:ext cx="3822191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675888"/>
            <a:ext cx="3822191" cy="38404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730752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"/>
              </a:rPr>
              <a:t>🎨  Frontend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" y="4133088"/>
            <a:ext cx="3584447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Built React 18 + Tailwind dark UI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Animated RiskMeter + RiskBadge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AbortController request cancellation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Full ARIA accessibility attributes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3675888"/>
            <a:ext cx="3822191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59" y="3675888"/>
            <a:ext cx="3822191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7" y="3730752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"/>
              </a:rPr>
              <a:t>🚀  DevOps &amp; 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9975" y="4133088"/>
            <a:ext cx="3584447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Generated render.yaml (IaC)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vercel.json (SPA rewrite + security headers)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DEPLOYMENT.md (6-step guide)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Git push + CI/CD pipeline setup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8" y="3675888"/>
            <a:ext cx="3822191" cy="22128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8" y="3675888"/>
            <a:ext cx="3822191" cy="384048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6" y="3730752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"/>
              </a:rPr>
              <a:t>📄  All Documentation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4" y="4133088"/>
            <a:ext cx="3584447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README.md — 47 KB, 24 sections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IBM_BOB_USAGE.md for judges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SUBMISSION_ANSWERS.md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• This PPT — auto-generated via python-pptx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199632"/>
            <a:ext cx="12188952" cy="566928"/>
          </a:xfrm>
          <a:prstGeom prst="rect">
            <a:avLst/>
          </a:prstGeom>
          <a:solidFill>
            <a:srgbClr val="1A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2362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8BDF8"/>
                </a:solidFill>
                <a:latin typeface="Segoe UI"/>
              </a:rPr>
              <a:t>"Every file in this repository was designed, written, reviewed &amp; deployed with IBM Bob as the primary AI engineering partner."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640080"/>
            <a:ext cx="2103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0" i="0">
                <a:solidFill>
                  <a:srgbClr val="6366F1"/>
                </a:solidFill>
                <a:latin typeface="Segoe U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307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0" i="0">
                <a:solidFill>
                  <a:srgbClr val="38BDF8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434840"/>
            <a:ext cx="393192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45152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Segoe UI"/>
              </a:rPr>
              <a:t>SafeInbox AI v1.2.0  ·  IBM SkillsBuild  ·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74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8BDF8"/>
                </a:solidFill>
                <a:latin typeface="Segoe UI"/>
              </a:rPr>
              <a:t>GitHub: https://github.com/hnsandeep/IBM_skillbuild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132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8BDF8"/>
                </a:solidFill>
                <a:latin typeface="Segoe UI"/>
              </a:rPr>
              <a:t>Backend: https://safeinbox-ai-backend.onrender.com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8BDF8"/>
                </a:solidFill>
                <a:latin typeface="Segoe UI"/>
              </a:rPr>
              <a:t>Frontend: https://safeinbox-ai.vercel.app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